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56" r:id="rId5"/>
    <p:sldId id="257" r:id="rId6"/>
    <p:sldId id="258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09B14-3FE8-4BDC-9391-E718553A54BE}" v="3" dt="2025-12-13T13:04:02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A99D7-7D75-5F83-3E17-38805E86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607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ru-RU" sz="2000" dirty="0">
                <a:latin typeface="Times New Roman"/>
                <a:cs typeface="Times New Roman"/>
              </a:rPr>
              <a:t>МІНІСТЕРСТВО ОСВІТИ І НАУКИ УКРАЇНИ </a:t>
            </a:r>
          </a:p>
          <a:p>
            <a:pPr algn="ctr"/>
            <a:r>
              <a:rPr lang="uk-UA" sz="2000" dirty="0">
                <a:latin typeface="Times New Roman"/>
                <a:cs typeface="Times New Roman"/>
              </a:rPr>
              <a:t>НАЦІОНАЛЬНИЙ ТЕХНІЧНИЙ УНІВЕРСИТЕТ УКРАЇНИ</a:t>
            </a:r>
            <a:endParaRPr lang="ru-RU" sz="2000">
              <a:latin typeface="Times New Roman"/>
              <a:cs typeface="Times New Roman"/>
            </a:endParaRPr>
          </a:p>
          <a:p>
            <a:pPr algn="ctr"/>
            <a:r>
              <a:rPr lang="uk-UA" sz="2000" dirty="0">
                <a:latin typeface="Times New Roman"/>
                <a:cs typeface="Times New Roman"/>
              </a:rPr>
              <a:t> «КИЇВСЬКИЙ ПОЛІТЕХНІЧНИЙ ІНСТИТУТ імені ІГОРЯ </a:t>
            </a:r>
            <a:endParaRPr lang="ru-RU" sz="2000">
              <a:latin typeface="Times New Roman"/>
              <a:cs typeface="Times New Roman"/>
            </a:endParaRPr>
          </a:p>
          <a:p>
            <a:pPr algn="ctr"/>
            <a:r>
              <a:rPr lang="uk-UA" sz="2000" dirty="0">
                <a:latin typeface="Times New Roman"/>
                <a:cs typeface="Times New Roman"/>
              </a:rPr>
              <a:t>СІКОРСЬКОГО» </a:t>
            </a:r>
            <a:br>
              <a:rPr lang="uk-UA" sz="2000" dirty="0">
                <a:latin typeface="Times New Roman"/>
                <a:cs typeface="Times New Roman"/>
              </a:rPr>
            </a:br>
            <a:endParaRPr lang="ru-RU" sz="1400">
              <a:latin typeface="Times New Roman"/>
              <a:cs typeface="Times New Roman"/>
            </a:endParaRPr>
          </a:p>
          <a:p>
            <a:pPr algn="ctr"/>
            <a:r>
              <a:rPr lang="ru-RU" sz="2000" err="1">
                <a:latin typeface="Times New Roman"/>
                <a:cs typeface="Times New Roman"/>
              </a:rPr>
              <a:t>Навчально-науковий</a:t>
            </a:r>
            <a:r>
              <a:rPr lang="ru-RU" sz="2000" dirty="0">
                <a:latin typeface="Times New Roman"/>
                <a:cs typeface="Times New Roman"/>
              </a:rPr>
              <a:t> </a:t>
            </a:r>
            <a:r>
              <a:rPr lang="ru-RU" sz="2000" err="1">
                <a:latin typeface="Times New Roman"/>
                <a:cs typeface="Times New Roman"/>
              </a:rPr>
              <a:t>інститут</a:t>
            </a:r>
            <a:r>
              <a:rPr lang="ru-RU" sz="2000" dirty="0">
                <a:latin typeface="Times New Roman"/>
                <a:cs typeface="Times New Roman"/>
              </a:rPr>
              <a:t> </a:t>
            </a:r>
            <a:r>
              <a:rPr lang="ru-RU" sz="2000" err="1">
                <a:latin typeface="Times New Roman"/>
                <a:cs typeface="Times New Roman"/>
              </a:rPr>
              <a:t>атомної</a:t>
            </a:r>
            <a:r>
              <a:rPr lang="ru-RU" sz="2000" dirty="0">
                <a:latin typeface="Times New Roman"/>
                <a:cs typeface="Times New Roman"/>
              </a:rPr>
              <a:t> та </a:t>
            </a:r>
            <a:r>
              <a:rPr lang="ru-RU" sz="2000" err="1">
                <a:latin typeface="Times New Roman"/>
                <a:cs typeface="Times New Roman"/>
              </a:rPr>
              <a:t>теплової</a:t>
            </a:r>
            <a:r>
              <a:rPr lang="ru-RU" sz="2000" dirty="0">
                <a:latin typeface="Times New Roman"/>
                <a:cs typeface="Times New Roman"/>
              </a:rPr>
              <a:t> </a:t>
            </a:r>
            <a:r>
              <a:rPr lang="ru-RU" sz="2000" err="1">
                <a:latin typeface="Times New Roman"/>
                <a:cs typeface="Times New Roman"/>
              </a:rPr>
              <a:t>енергетики</a:t>
            </a:r>
            <a:r>
              <a:rPr lang="ru-RU" sz="2000" dirty="0">
                <a:latin typeface="Times New Roman"/>
                <a:cs typeface="Times New Roman"/>
              </a:rPr>
              <a:t> </a:t>
            </a:r>
            <a:br>
              <a:rPr lang="ru-RU" sz="2000" dirty="0">
                <a:latin typeface="Times New Roman"/>
                <a:cs typeface="Times New Roman"/>
              </a:rPr>
            </a:br>
            <a:r>
              <a:rPr lang="ru-RU" sz="2000" dirty="0">
                <a:latin typeface="Times New Roman"/>
                <a:cs typeface="Times New Roman"/>
              </a:rPr>
              <a:t>Кафедра </a:t>
            </a:r>
            <a:r>
              <a:rPr lang="ru-RU" sz="2000" err="1">
                <a:latin typeface="Times New Roman"/>
                <a:cs typeface="Times New Roman"/>
              </a:rPr>
              <a:t>інженерії</a:t>
            </a:r>
            <a:r>
              <a:rPr lang="ru-RU" sz="2000" dirty="0">
                <a:latin typeface="Times New Roman"/>
                <a:cs typeface="Times New Roman"/>
              </a:rPr>
              <a:t> </a:t>
            </a:r>
            <a:r>
              <a:rPr lang="ru-RU" sz="2000" err="1">
                <a:latin typeface="Times New Roman"/>
                <a:cs typeface="Times New Roman"/>
              </a:rPr>
              <a:t>програмного</a:t>
            </a:r>
            <a:r>
              <a:rPr lang="ru-RU" sz="2000" dirty="0">
                <a:latin typeface="Times New Roman"/>
                <a:cs typeface="Times New Roman"/>
              </a:rPr>
              <a:t> </a:t>
            </a:r>
            <a:r>
              <a:rPr lang="ru-RU" sz="2000" err="1">
                <a:latin typeface="Times New Roman"/>
                <a:cs typeface="Times New Roman"/>
              </a:rPr>
              <a:t>забезпечення</a:t>
            </a:r>
            <a:r>
              <a:rPr lang="ru-RU" sz="2000" dirty="0">
                <a:latin typeface="Times New Roman"/>
                <a:cs typeface="Times New Roman"/>
              </a:rPr>
              <a:t> в </a:t>
            </a:r>
            <a:r>
              <a:rPr lang="ru-RU" sz="2000" err="1">
                <a:latin typeface="Times New Roman"/>
                <a:cs typeface="Times New Roman"/>
              </a:rPr>
              <a:t>енергетиці</a:t>
            </a:r>
            <a:br>
              <a:rPr lang="ru-RU" sz="2000" dirty="0">
                <a:latin typeface="Times New Roman"/>
                <a:cs typeface="Times New Roman"/>
              </a:rPr>
            </a:br>
            <a:br>
              <a:rPr lang="ru-RU" sz="1600" dirty="0">
                <a:latin typeface="Times New Roman"/>
                <a:cs typeface="Times New Roman"/>
              </a:rPr>
            </a:br>
            <a:r>
              <a:rPr lang="ru-RU" sz="2400" b="1" dirty="0">
                <a:latin typeface="Times New Roman"/>
                <a:cs typeface="Times New Roman"/>
              </a:rPr>
              <a:t>Методика </a:t>
            </a:r>
            <a:r>
              <a:rPr lang="ru-RU" sz="2400" b="1" err="1">
                <a:latin typeface="Times New Roman"/>
                <a:cs typeface="Times New Roman"/>
              </a:rPr>
              <a:t>забезпечення</a:t>
            </a:r>
            <a:r>
              <a:rPr lang="ru-RU" sz="2400" b="1" dirty="0">
                <a:latin typeface="Times New Roman"/>
                <a:cs typeface="Times New Roman"/>
              </a:rPr>
              <a:t> </a:t>
            </a:r>
            <a:r>
              <a:rPr lang="ru-RU" sz="2400" b="1" err="1">
                <a:latin typeface="Times New Roman"/>
                <a:cs typeface="Times New Roman"/>
              </a:rPr>
              <a:t>функціональної</a:t>
            </a:r>
            <a:r>
              <a:rPr lang="ru-RU" sz="2400" b="1" dirty="0">
                <a:latin typeface="Times New Roman"/>
                <a:cs typeface="Times New Roman"/>
              </a:rPr>
              <a:t> </a:t>
            </a:r>
            <a:r>
              <a:rPr lang="ru-RU" sz="2400" b="1" err="1">
                <a:latin typeface="Times New Roman"/>
                <a:cs typeface="Times New Roman"/>
              </a:rPr>
              <a:t>стійкості</a:t>
            </a:r>
            <a:r>
              <a:rPr lang="ru-RU" sz="2400" b="1" dirty="0">
                <a:latin typeface="Times New Roman"/>
                <a:cs typeface="Times New Roman"/>
              </a:rPr>
              <a:t> </a:t>
            </a:r>
            <a:r>
              <a:rPr lang="ru-RU" sz="2400" b="1" err="1">
                <a:latin typeface="Times New Roman"/>
                <a:cs typeface="Times New Roman"/>
              </a:rPr>
              <a:t>кіберзахисту</a:t>
            </a:r>
            <a:r>
              <a:rPr lang="ru-RU" sz="2400" b="1" dirty="0">
                <a:latin typeface="Times New Roman"/>
                <a:cs typeface="Times New Roman"/>
              </a:rPr>
              <a:t> систем </a:t>
            </a:r>
            <a:r>
              <a:rPr lang="ru-RU" sz="2400" b="1" err="1">
                <a:latin typeface="Times New Roman"/>
                <a:cs typeface="Times New Roman"/>
              </a:rPr>
              <a:t>керування</a:t>
            </a:r>
            <a:r>
              <a:rPr lang="ru-RU" sz="2400" b="1" dirty="0">
                <a:latin typeface="Times New Roman"/>
                <a:cs typeface="Times New Roman"/>
              </a:rPr>
              <a:t> базами </a:t>
            </a:r>
            <a:r>
              <a:rPr lang="ru-RU" sz="2400" b="1" err="1">
                <a:latin typeface="Times New Roman"/>
                <a:cs typeface="Times New Roman"/>
              </a:rPr>
              <a:t>данних</a:t>
            </a:r>
            <a:endParaRPr lang="ru-RU" sz="2400" b="1" dirty="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C6CEF3-9A72-1E40-D665-0E5440871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53" y="3237566"/>
            <a:ext cx="11456894" cy="34324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ru-RU" sz="2000" b="1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ru-RU" sz="2000" b="1" dirty="0" err="1">
                <a:latin typeface="Times New Roman"/>
                <a:ea typeface="Calibri"/>
                <a:cs typeface="Times New Roman"/>
              </a:rPr>
              <a:t>Виконала</a:t>
            </a:r>
            <a:r>
              <a:rPr lang="ru-RU" sz="2000" b="1" dirty="0">
                <a:latin typeface="Times New Roman"/>
                <a:ea typeface="Calibri"/>
                <a:cs typeface="Times New Roman"/>
              </a:rPr>
              <a:t>:                                                                                                              </a:t>
            </a:r>
            <a:r>
              <a:rPr lang="ru-RU" sz="2000" b="1" dirty="0" err="1">
                <a:latin typeface="Times New Roman"/>
                <a:ea typeface="Calibri"/>
                <a:cs typeface="Times New Roman"/>
              </a:rPr>
              <a:t>Керівник</a:t>
            </a:r>
            <a:r>
              <a:rPr lang="ru-RU" sz="2000" b="1" dirty="0">
                <a:latin typeface="Times New Roman"/>
                <a:ea typeface="Calibri"/>
                <a:cs typeface="Times New Roman"/>
              </a:rPr>
              <a:t>:</a:t>
            </a:r>
            <a:endParaRPr lang="ru-RU" dirty="0"/>
          </a:p>
          <a:p>
            <a:pPr marL="0" indent="0">
              <a:buNone/>
            </a:pPr>
            <a:r>
              <a:rPr lang="ru-RU" sz="2000" dirty="0">
                <a:latin typeface="Times New Roman"/>
                <a:ea typeface="Calibri"/>
                <a:cs typeface="Times New Roman"/>
              </a:rPr>
              <a:t>Студентка групи ТВ-42мп                                                                                     доцент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ru-RU" sz="2000" dirty="0" err="1">
                <a:latin typeface="Times New Roman"/>
                <a:ea typeface="Calibri"/>
                <a:cs typeface="Times New Roman"/>
              </a:rPr>
              <a:t>Плачинда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Маргарита </a:t>
            </a:r>
            <a:r>
              <a:rPr lang="ru-RU" sz="2000" dirty="0" err="1">
                <a:latin typeface="Times New Roman"/>
                <a:ea typeface="Calibri"/>
                <a:cs typeface="Times New Roman"/>
              </a:rPr>
              <a:t>Володимирівна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                                                                 </a:t>
            </a:r>
            <a:r>
              <a:rPr lang="ru-RU" sz="2000" dirty="0" err="1">
                <a:latin typeface="Times New Roman"/>
                <a:ea typeface="Calibri"/>
                <a:cs typeface="Times New Roman"/>
              </a:rPr>
              <a:t>Шуклін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Герман </a:t>
            </a:r>
            <a:r>
              <a:rPr lang="ru-RU" sz="2000" dirty="0" err="1">
                <a:latin typeface="Times New Roman"/>
                <a:ea typeface="Calibri"/>
                <a:cs typeface="Times New Roman"/>
              </a:rPr>
              <a:t>Вікторович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</a:t>
            </a:r>
          </a:p>
          <a:p>
            <a:pPr marL="0" indent="0">
              <a:buNone/>
            </a:pPr>
            <a:endParaRPr lang="ru-RU" sz="20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ru-RU" sz="2000" dirty="0">
                <a:latin typeface="Times New Roman"/>
                <a:ea typeface="Calibri"/>
                <a:cs typeface="Times New Roman"/>
              </a:rPr>
              <a:t>м. </a:t>
            </a:r>
            <a:r>
              <a:rPr lang="ru-RU" sz="2000" dirty="0" err="1">
                <a:latin typeface="Times New Roman"/>
                <a:ea typeface="Calibri"/>
                <a:cs typeface="Times New Roman"/>
              </a:rPr>
              <a:t>Київ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- 2025</a:t>
            </a:r>
          </a:p>
        </p:txBody>
      </p:sp>
    </p:spTree>
    <p:extLst>
      <p:ext uri="{BB962C8B-B14F-4D97-AF65-F5344CB8AC3E}">
        <p14:creationId xmlns:p14="http://schemas.microsoft.com/office/powerpoint/2010/main" val="330712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537D1-E111-7060-5A79-CE2FF606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ru-RU" sz="3100" dirty="0">
                <a:solidFill>
                  <a:schemeClr val="bg1"/>
                </a:solidFill>
                <a:latin typeface="Times New Roman"/>
                <a:cs typeface="Times New Roman"/>
              </a:rPr>
              <a:t>Постановка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EFBFD-B02F-9D67-E3AF-38886ED37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144" y="-1593"/>
            <a:ext cx="8093915" cy="658196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/>
                <a:cs typeface="Times New Roman"/>
              </a:rPr>
              <a:t>Мета </a:t>
            </a:r>
            <a:r>
              <a:rPr lang="ru-RU" sz="2400" b="1" err="1">
                <a:latin typeface="Times New Roman"/>
                <a:cs typeface="Times New Roman"/>
              </a:rPr>
              <a:t>роботи</a:t>
            </a:r>
            <a:r>
              <a:rPr lang="ru-RU" sz="2400" dirty="0">
                <a:latin typeface="Times New Roman"/>
                <a:cs typeface="Times New Roman"/>
              </a:rPr>
              <a:t> - </a:t>
            </a:r>
            <a:r>
              <a:rPr lang="ru-RU" sz="2400" err="1">
                <a:latin typeface="Times New Roman"/>
                <a:cs typeface="Times New Roman"/>
              </a:rPr>
              <a:t>розробка</a:t>
            </a:r>
            <a:r>
              <a:rPr lang="ru-RU" sz="2400" dirty="0">
                <a:latin typeface="Times New Roman"/>
                <a:cs typeface="Times New Roman"/>
              </a:rPr>
              <a:t> веб-</a:t>
            </a:r>
            <a:r>
              <a:rPr lang="ru-RU" sz="2400" err="1">
                <a:latin typeface="Times New Roman"/>
                <a:cs typeface="Times New Roman"/>
              </a:rPr>
              <a:t>застосунку</a:t>
            </a:r>
            <a:r>
              <a:rPr lang="ru-RU" sz="2400" dirty="0">
                <a:latin typeface="Times New Roman"/>
                <a:cs typeface="Times New Roman"/>
              </a:rPr>
              <a:t> для </a:t>
            </a:r>
            <a:r>
              <a:rPr lang="ru-RU" sz="2400" err="1">
                <a:latin typeface="Times New Roman"/>
                <a:cs typeface="Times New Roman"/>
              </a:rPr>
              <a:t>забезпечення</a:t>
            </a:r>
            <a:r>
              <a:rPr lang="ru-RU" sz="2400" dirty="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функціональної</a:t>
            </a:r>
            <a:r>
              <a:rPr lang="ru-RU" sz="2400" dirty="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стійкоскі</a:t>
            </a:r>
            <a:r>
              <a:rPr lang="ru-RU" sz="2400" dirty="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кіберзахисту</a:t>
            </a:r>
            <a:r>
              <a:rPr lang="ru-RU" sz="2400" dirty="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системи</a:t>
            </a:r>
            <a:r>
              <a:rPr lang="ru-RU" sz="2400" dirty="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керування</a:t>
            </a:r>
            <a:r>
              <a:rPr lang="ru-RU" sz="2400" dirty="0">
                <a:latin typeface="Times New Roman"/>
                <a:cs typeface="Times New Roman"/>
              </a:rPr>
              <a:t> базами </a:t>
            </a:r>
            <a:r>
              <a:rPr lang="ru-RU" sz="2400" err="1">
                <a:latin typeface="Times New Roman"/>
                <a:cs typeface="Times New Roman"/>
              </a:rPr>
              <a:t>даних</a:t>
            </a:r>
            <a:r>
              <a:rPr lang="ru-RU" sz="2400" dirty="0">
                <a:latin typeface="Times New Roman"/>
                <a:cs typeface="Times New Roman"/>
              </a:rPr>
              <a:t>.</a:t>
            </a:r>
            <a:endParaRPr lang="ru-RU"/>
          </a:p>
          <a:p>
            <a:pPr marL="0" indent="0">
              <a:buNone/>
            </a:pPr>
            <a:endParaRPr lang="ru-RU" sz="2400">
              <a:latin typeface="Times New Roman"/>
              <a:cs typeface="Times New Roman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AutoNum type="arabicParenR"/>
            </a:pPr>
            <a:r>
              <a:rPr lang="ru-RU" err="1">
                <a:latin typeface="Times New Roman"/>
                <a:cs typeface="Times New Roman"/>
              </a:rPr>
              <a:t>Проаналізувати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існуючі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методи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кіберзахисту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системи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керування</a:t>
            </a:r>
            <a:r>
              <a:rPr lang="ru-RU">
                <a:latin typeface="Times New Roman"/>
                <a:cs typeface="Times New Roman"/>
              </a:rPr>
              <a:t> БД.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AutoNum type="arabicParenR"/>
            </a:pPr>
            <a:r>
              <a:rPr lang="ru-RU" dirty="0" err="1">
                <a:latin typeface="Times New Roman"/>
                <a:cs typeface="Times New Roman"/>
              </a:rPr>
              <a:t>Розробити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dirty="0" err="1">
                <a:latin typeface="Times New Roman"/>
                <a:cs typeface="Times New Roman"/>
              </a:rPr>
              <a:t>архітектури</a:t>
            </a:r>
            <a:r>
              <a:rPr lang="ru-RU" dirty="0">
                <a:latin typeface="Times New Roman"/>
                <a:cs typeface="Times New Roman"/>
              </a:rPr>
              <a:t> веб-</a:t>
            </a:r>
            <a:r>
              <a:rPr lang="ru-RU" dirty="0" err="1">
                <a:latin typeface="Times New Roman"/>
                <a:cs typeface="Times New Roman"/>
              </a:rPr>
              <a:t>застосунку</a:t>
            </a:r>
            <a:r>
              <a:rPr lang="ru-RU" dirty="0">
                <a:latin typeface="Times New Roman"/>
                <a:cs typeface="Times New Roman"/>
              </a:rPr>
              <a:t>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AutoNum type="arabicParenR"/>
            </a:pPr>
            <a:r>
              <a:rPr lang="ru-RU" err="1">
                <a:latin typeface="Times New Roman"/>
                <a:cs typeface="Times New Roman"/>
              </a:rPr>
              <a:t>Реалізувати</a:t>
            </a:r>
            <a:r>
              <a:rPr lang="ru-RU">
                <a:latin typeface="Times New Roman"/>
                <a:cs typeface="Times New Roman"/>
              </a:rPr>
              <a:t> модуль </a:t>
            </a:r>
            <a:r>
              <a:rPr lang="ru-RU" err="1">
                <a:latin typeface="Times New Roman"/>
                <a:cs typeface="Times New Roman"/>
              </a:rPr>
              <a:t>перевірки</a:t>
            </a:r>
            <a:r>
              <a:rPr lang="ru-RU">
                <a:latin typeface="Times New Roman"/>
                <a:cs typeface="Times New Roman"/>
              </a:rPr>
              <a:t> SQL-</a:t>
            </a:r>
            <a:r>
              <a:rPr lang="ru-RU" err="1">
                <a:latin typeface="Times New Roman"/>
                <a:cs typeface="Times New Roman"/>
              </a:rPr>
              <a:t>запитів</a:t>
            </a:r>
            <a:r>
              <a:rPr lang="ru-RU">
                <a:latin typeface="Times New Roman"/>
                <a:cs typeface="Times New Roman"/>
              </a:rPr>
              <a:t> на </a:t>
            </a:r>
            <a:r>
              <a:rPr lang="ru-RU" err="1">
                <a:latin typeface="Times New Roman"/>
                <a:cs typeface="Times New Roman"/>
              </a:rPr>
              <a:t>основі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>
                <a:latin typeface="Times New Roman"/>
                <a:cs typeface="Times New Roman"/>
              </a:rPr>
              <a:t>правил і ML-</a:t>
            </a:r>
            <a:r>
              <a:rPr lang="ru-RU" err="1">
                <a:latin typeface="Times New Roman"/>
                <a:cs typeface="Times New Roman"/>
              </a:rPr>
              <a:t>моделі</a:t>
            </a:r>
            <a:r>
              <a:rPr lang="ru-RU">
                <a:latin typeface="Times New Roman"/>
                <a:cs typeface="Times New Roman"/>
              </a:rPr>
              <a:t>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AutoNum type="arabicParenR"/>
            </a:pPr>
            <a:r>
              <a:rPr lang="ru-RU" dirty="0" err="1">
                <a:latin typeface="Times New Roman"/>
                <a:cs typeface="Times New Roman"/>
              </a:rPr>
              <a:t>Створити</a:t>
            </a:r>
            <a:r>
              <a:rPr lang="ru-RU" dirty="0">
                <a:latin typeface="Times New Roman"/>
                <a:cs typeface="Times New Roman"/>
              </a:rPr>
              <a:t> модуль </a:t>
            </a:r>
            <a:r>
              <a:rPr lang="ru-RU" dirty="0" err="1">
                <a:latin typeface="Times New Roman"/>
                <a:cs typeface="Times New Roman"/>
              </a:rPr>
              <a:t>симуляції</a:t>
            </a:r>
            <a:r>
              <a:rPr lang="ru-RU" dirty="0">
                <a:latin typeface="Times New Roman"/>
                <a:cs typeface="Times New Roman"/>
              </a:rPr>
              <a:t> атак та </a:t>
            </a:r>
            <a:r>
              <a:rPr lang="ru-RU" dirty="0" err="1">
                <a:latin typeface="Times New Roman"/>
                <a:cs typeface="Times New Roman"/>
              </a:rPr>
              <a:t>моніторингу</a:t>
            </a:r>
            <a:r>
              <a:rPr lang="ru-RU" dirty="0">
                <a:latin typeface="Times New Roman"/>
                <a:cs typeface="Times New Roman"/>
              </a:rPr>
              <a:t> в реальному </a:t>
            </a:r>
            <a:r>
              <a:rPr lang="ru-RU" dirty="0" err="1">
                <a:latin typeface="Times New Roman"/>
                <a:cs typeface="Times New Roman"/>
              </a:rPr>
              <a:t>часі</a:t>
            </a:r>
            <a:r>
              <a:rPr lang="ru-RU" dirty="0">
                <a:latin typeface="Times New Roman"/>
                <a:cs typeface="Times New Roman"/>
              </a:rPr>
              <a:t>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AutoNum type="arabicParenR"/>
            </a:pPr>
            <a:r>
              <a:rPr lang="ru-RU" dirty="0">
                <a:latin typeface="Times New Roman"/>
                <a:cs typeface="Times New Roman"/>
              </a:rPr>
              <a:t>Провести </a:t>
            </a:r>
            <a:r>
              <a:rPr lang="ru-RU" dirty="0" err="1">
                <a:latin typeface="Times New Roman"/>
                <a:cs typeface="Times New Roman"/>
              </a:rPr>
              <a:t>дослідження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dirty="0" err="1">
                <a:latin typeface="Times New Roman"/>
                <a:cs typeface="Times New Roman"/>
              </a:rPr>
              <a:t>ефективності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dirty="0" err="1">
                <a:latin typeface="Times New Roman"/>
                <a:cs typeface="Times New Roman"/>
              </a:rPr>
              <a:t>розробленої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dirty="0" err="1">
                <a:latin typeface="Times New Roman"/>
                <a:cs typeface="Times New Roman"/>
              </a:rPr>
              <a:t>системи</a:t>
            </a:r>
            <a:r>
              <a:rPr lang="ru-RU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3825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8CF65-539A-1F06-731D-48D9F23C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8583702" cy="691364"/>
          </a:xfrm>
        </p:spPr>
        <p:txBody>
          <a:bodyPr anchor="t"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Times New Roman"/>
                <a:cs typeface="Times New Roman"/>
              </a:rPr>
              <a:t>Опис предметної області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B9AB8D-DC27-5329-1CFE-59B54B29D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96" y="1841563"/>
            <a:ext cx="11791112" cy="48155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>
                <a:latin typeface="Times New Roman"/>
                <a:ea typeface="+mn-lt"/>
                <a:cs typeface="+mn-lt"/>
              </a:rPr>
              <a:t>Предметна область охоплює процеси взаємодії користувача з системами керування базами даних у контексті аналізу й оцінювання SQL-запитів та поведінки бази даних під час навантаження. Центральним елементом є можливість підключення до зовнішніх реальних баз, отримання їхньої структури та автоматичне формування на основі цих даних різноманітних SQL-запитів, що створюють репрезентативні датасети. У межах цієї області розглядається комбінований механізм перевірки запитів, який включає синтаксичний аналіз за правилами й машинне навчання для класифікації нормальних та підозрілих операцій. Також важливим аспектом є реєстрація всіх виконаних запитів, їх подальший аналіз, а також відображення ключових показників роботи системи в режимі реального часу. Окремим процесом предметної області є адаптивне оновлення моделі класифікації на основі нових логів і згенерованих датасетів, що забезпечує здатність системи самонавчатися й підтримувати свою ефективність у змінних умовах.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508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6532" y="653905"/>
            <a:ext cx="11085665" cy="6195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Архітектура системи</a:t>
            </a:r>
          </a:p>
        </p:txBody>
      </p:sp>
      <p:pic>
        <p:nvPicPr>
          <p:cNvPr id="3" name="Объект 2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E053E7-A06A-26FF-373B-9B9C1580B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718" y="1821364"/>
            <a:ext cx="8181631" cy="471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CDAF1-300A-91B3-B726-09FCADEB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62" y="653905"/>
            <a:ext cx="10949967" cy="7343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</a:rPr>
              <a:t>Концептуальна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модель</a:t>
            </a:r>
            <a:r>
              <a:rPr lang="en-US" sz="3200">
                <a:solidFill>
                  <a:schemeClr val="bg1"/>
                </a:solidFill>
              </a:rPr>
              <a:t> ситеми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Объект 9" descr="Изображение выглядит как текст, снимок экрана, Шрифт, Самоклеющийся лист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31D7CB-6706-5DDC-2867-2261A5121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41258"/>
            <a:ext cx="10905066" cy="406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4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67E60-4677-FF5F-5FB6-26E20049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Діаграма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прецедентів</a:t>
            </a:r>
            <a:endParaRPr lang="en-US" sz="3200" kern="1200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Объект 3" descr="Изображение выглядит как текст, снимок экран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A99060-4374-3ED1-D6FA-0E07766B6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861" y="1393391"/>
            <a:ext cx="7389921" cy="544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1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BDD29-823C-24E3-23EB-3BD0760C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err="1">
                <a:solidFill>
                  <a:schemeClr val="bg1"/>
                </a:solidFill>
                <a:latin typeface="Times New Roman"/>
                <a:cs typeface="Times New Roman"/>
              </a:rPr>
              <a:t>Uml</a:t>
            </a:r>
            <a:r>
              <a:rPr lang="en-US" sz="3200" kern="1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Times New Roman"/>
                <a:cs typeface="Times New Roman"/>
              </a:rPr>
              <a:t>діаграма</a:t>
            </a:r>
            <a:endParaRPr lang="en-US" sz="3200" kern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Объект 3" descr="Изображение выглядит как снимок экрана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BA3EA9-195F-1907-CF1C-778527D43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625" y="1675227"/>
            <a:ext cx="806275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3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6">
            <a:extLst>
              <a:ext uri="{FF2B5EF4-FFF2-40B4-BE49-F238E27FC236}">
                <a16:creationId xmlns:a16="http://schemas.microsoft.com/office/drawing/2014/main" id="{0EFD753D-6A49-46DD-9E82-AA6E2C62B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8">
            <a:extLst>
              <a:ext uri="{FF2B5EF4-FFF2-40B4-BE49-F238E27FC236}">
                <a16:creationId xmlns:a16="http://schemas.microsoft.com/office/drawing/2014/main" id="{138A5824-1F4A-4EE7-BC13-5BB48FC0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044" y="321732"/>
            <a:ext cx="4568741" cy="61926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D47DA-A1D2-F597-C6F1-F9AB8213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257" y="637523"/>
            <a:ext cx="3608896" cy="1690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Засоби розробки</a:t>
            </a:r>
          </a:p>
        </p:txBody>
      </p:sp>
      <p:pic>
        <p:nvPicPr>
          <p:cNvPr id="4" name="Объект 3" descr="Изображение выглядит как Графика, логотип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CDAC26-D62E-F4EA-40F5-015DE2BD2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247" y="325905"/>
            <a:ext cx="2484704" cy="1853873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рисунок, иллюстрац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D86429-1F13-6ADC-32B7-28C305B3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98" y="325905"/>
            <a:ext cx="1853874" cy="1853874"/>
          </a:xfrm>
          <a:prstGeom prst="rect">
            <a:avLst/>
          </a:prstGeom>
        </p:spPr>
      </p:pic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9685056-1DFA-D07A-D0DE-4FC077772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56" y="2496671"/>
            <a:ext cx="3484666" cy="112221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8" name="Рисунок 7" descr="Изображение выглядит как Шрифт, Графика, логотип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0030C2-1293-2E21-598F-EE2614C79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081" y="2691898"/>
            <a:ext cx="3219976" cy="1474205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Шрифт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21C337-0D85-8F9D-08AC-D1953A6E5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9832" y="2503952"/>
            <a:ext cx="1850097" cy="1850097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215C8E-DE3C-74E7-C28C-9AA51CAE2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596" y="4644984"/>
            <a:ext cx="1869351" cy="1869351"/>
          </a:xfrm>
          <a:prstGeom prst="rect">
            <a:avLst/>
          </a:prstGeom>
        </p:spPr>
      </p:pic>
      <p:pic>
        <p:nvPicPr>
          <p:cNvPr id="7" name="Рисунок 6" descr="Изображение выглядит как Шрифт, логотип, Графика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74A6CE-0832-2EBF-25F5-A59C254830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2078" y="4649694"/>
            <a:ext cx="1878513" cy="18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9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F5D7B-090F-E3A0-A254-51E90B00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3"/>
            <a:ext cx="2910051" cy="5576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err="1">
                <a:solidFill>
                  <a:schemeClr val="bg1"/>
                </a:solidFill>
                <a:latin typeface="Times New Roman"/>
                <a:cs typeface="Times New Roman"/>
              </a:rPr>
              <a:t>Інтерфейс</a:t>
            </a:r>
            <a:r>
              <a:rPr lang="en-US" kern="1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kern="1200" err="1">
                <a:solidFill>
                  <a:schemeClr val="bg1"/>
                </a:solidFill>
                <a:latin typeface="Times New Roman"/>
                <a:cs typeface="Times New Roman"/>
              </a:rPr>
              <a:t>застосунку</a:t>
            </a:r>
            <a:endParaRPr lang="en-US" kern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118" y="0"/>
            <a:ext cx="752987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F9B10B-753F-7E83-0381-D12005B69B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39976" y="661166"/>
            <a:ext cx="5592818" cy="2880301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62ACAF2C-074F-BAFF-A517-E3AD37F92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9965" y="4212709"/>
            <a:ext cx="5605390" cy="2001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200" err="1">
                <a:latin typeface="Times New Roman"/>
                <a:cs typeface="Times New Roman"/>
              </a:rPr>
              <a:t>Основні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модулі</a:t>
            </a:r>
            <a:r>
              <a:rPr lang="en-US" sz="2200" dirty="0">
                <a:latin typeface="Times New Roman"/>
                <a:cs typeface="Times New Roman"/>
              </a:rPr>
              <a:t>:</a:t>
            </a:r>
          </a:p>
          <a:p>
            <a:pPr lvl="1"/>
            <a:r>
              <a:rPr lang="en-US" sz="2200" err="1">
                <a:latin typeface="Times New Roman"/>
                <a:cs typeface="Times New Roman"/>
              </a:rPr>
              <a:t>Тестування</a:t>
            </a:r>
            <a:r>
              <a:rPr lang="en-US" sz="2200" dirty="0">
                <a:latin typeface="Times New Roman"/>
                <a:cs typeface="Times New Roman"/>
              </a:rPr>
              <a:t> SQL-</a:t>
            </a:r>
            <a:r>
              <a:rPr lang="en-US" sz="2200" err="1">
                <a:latin typeface="Times New Roman"/>
                <a:cs typeface="Times New Roman"/>
              </a:rPr>
              <a:t>запитів</a:t>
            </a:r>
            <a:endParaRPr lang="en-US" sz="2200">
              <a:latin typeface="Times New Roman"/>
              <a:cs typeface="Times New Roman"/>
            </a:endParaRPr>
          </a:p>
          <a:p>
            <a:pPr lvl="1"/>
            <a:r>
              <a:rPr lang="en-US" sz="2200" err="1">
                <a:latin typeface="Times New Roman"/>
                <a:cs typeface="Times New Roman"/>
              </a:rPr>
              <a:t>Симуляція</a:t>
            </a:r>
            <a:r>
              <a:rPr lang="en-US" sz="2200" dirty="0">
                <a:latin typeface="Times New Roman"/>
                <a:cs typeface="Times New Roman"/>
              </a:rPr>
              <a:t> DoS-</a:t>
            </a:r>
            <a:r>
              <a:rPr lang="en-US" sz="2200" err="1">
                <a:latin typeface="Times New Roman"/>
                <a:cs typeface="Times New Roman"/>
              </a:rPr>
              <a:t>атак</a:t>
            </a:r>
            <a:r>
              <a:rPr lang="en-US" sz="2200" dirty="0">
                <a:latin typeface="Times New Roman"/>
                <a:cs typeface="Times New Roman"/>
              </a:rPr>
              <a:t> у </a:t>
            </a:r>
            <a:r>
              <a:rPr lang="en-US" sz="2200" err="1">
                <a:latin typeface="Times New Roman"/>
                <a:cs typeface="Times New Roman"/>
              </a:rPr>
              <a:t>реальному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часі</a:t>
            </a:r>
            <a:endParaRPr lang="en-US" sz="2200">
              <a:latin typeface="Times New Roman"/>
              <a:cs typeface="Times New Roman"/>
            </a:endParaRPr>
          </a:p>
          <a:p>
            <a:pPr lvl="1"/>
            <a:r>
              <a:rPr lang="en-US" sz="2200" err="1">
                <a:latin typeface="Times New Roman"/>
                <a:cs typeface="Times New Roman"/>
              </a:rPr>
              <a:t>Аналітика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аномалій</a:t>
            </a:r>
            <a:endParaRPr lang="en-US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03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76AEF-8A0F-862F-D35B-57C83BEA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70" y="1724735"/>
            <a:ext cx="3918490" cy="1078186"/>
          </a:xfrm>
        </p:spPr>
        <p:txBody>
          <a:bodyPr anchor="t">
            <a:normAutofit/>
          </a:bodyPr>
          <a:lstStyle/>
          <a:p>
            <a:r>
              <a:rPr lang="ru-RU" sz="3200" dirty="0" err="1">
                <a:latin typeface="Times New Roman"/>
                <a:cs typeface="Times New Roman"/>
              </a:rPr>
              <a:t>Інтерфейс</a:t>
            </a:r>
            <a:r>
              <a:rPr lang="ru-RU" sz="3200" dirty="0">
                <a:latin typeface="Times New Roman"/>
                <a:cs typeface="Times New Roman"/>
              </a:rPr>
              <a:t> </a:t>
            </a:r>
            <a:r>
              <a:rPr lang="ru-RU" sz="3200" dirty="0" err="1">
                <a:latin typeface="Times New Roman"/>
                <a:cs typeface="Times New Roman"/>
              </a:rPr>
              <a:t>застосунку</a:t>
            </a:r>
          </a:p>
        </p:txBody>
      </p:sp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CD0C32-917C-9705-9F84-57D70D9B8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18" y="612564"/>
            <a:ext cx="4284407" cy="2206469"/>
          </a:xfrm>
          <a:prstGeom prst="rect">
            <a:avLst/>
          </a:prstGeom>
        </p:spPr>
      </p:pic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8D32B4-836F-ADA7-6536-5D4F68C61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17" y="3562611"/>
            <a:ext cx="4284401" cy="250637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DA7957-E467-B0AA-CAB9-8A4A8A4D3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7260" y="2967863"/>
            <a:ext cx="5184759" cy="23950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Times New Roman"/>
                <a:cs typeface="Times New Roman"/>
              </a:rPr>
              <a:t>Система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вимагає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перевірку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доступу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перед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роботою</a:t>
            </a:r>
            <a:r>
              <a:rPr lang="en-US" sz="2000" dirty="0">
                <a:latin typeface="Times New Roman"/>
                <a:cs typeface="Times New Roman"/>
              </a:rPr>
              <a:t> з </a:t>
            </a:r>
            <a:r>
              <a:rPr lang="en-US" sz="2000" err="1">
                <a:latin typeface="Times New Roman"/>
                <a:cs typeface="Times New Roman"/>
              </a:rPr>
              <a:t>даними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err="1">
                <a:latin typeface="Times New Roman"/>
                <a:cs typeface="Times New Roman"/>
              </a:rPr>
              <a:t>Система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відображає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журнал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запитів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та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виявлених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аномалій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9041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C4B56-8537-F0FF-4F7B-BBADAEF8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48" y="388717"/>
            <a:ext cx="2864803" cy="1319829"/>
          </a:xfrm>
        </p:spPr>
        <p:txBody>
          <a:bodyPr anchor="t">
            <a:normAutofit/>
          </a:bodyPr>
          <a:lstStyle/>
          <a:p>
            <a:r>
              <a:rPr lang="ru-RU" sz="3200" err="1">
                <a:solidFill>
                  <a:schemeClr val="bg1"/>
                </a:solidFill>
                <a:latin typeface="Times New Roman"/>
                <a:cs typeface="Times New Roman"/>
              </a:rPr>
              <a:t>Інтерфейс</a:t>
            </a:r>
            <a:r>
              <a:rPr lang="ru-RU" sz="3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3200" err="1">
                <a:solidFill>
                  <a:schemeClr val="bg1"/>
                </a:solidFill>
                <a:latin typeface="Times New Roman"/>
                <a:cs typeface="Times New Roman"/>
              </a:rPr>
              <a:t>застосунку</a:t>
            </a:r>
            <a:endParaRPr lang="ru-RU" sz="3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30115C9-ADAA-A9C0-37AE-2FA48406D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813" y="883865"/>
            <a:ext cx="4871090" cy="23904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err="1">
                <a:latin typeface="Times New Roman"/>
                <a:cs typeface="Times New Roman"/>
              </a:rPr>
              <a:t>Підключення</a:t>
            </a:r>
            <a:r>
              <a:rPr lang="en-US" sz="2200" dirty="0">
                <a:latin typeface="Times New Roman"/>
                <a:cs typeface="Times New Roman"/>
              </a:rPr>
              <a:t> БД</a:t>
            </a:r>
            <a:endParaRPr lang="ru-RU"/>
          </a:p>
          <a:p>
            <a:r>
              <a:rPr lang="en-US" sz="2200" err="1">
                <a:latin typeface="Times New Roman"/>
                <a:cs typeface="Times New Roman"/>
              </a:rPr>
              <a:t>Генерація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датасету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на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основі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реальних</a:t>
            </a:r>
            <a:r>
              <a:rPr lang="en-US" sz="2200" dirty="0">
                <a:latin typeface="Times New Roman"/>
                <a:cs typeface="Times New Roman"/>
              </a:rPr>
              <a:t> SQL-</a:t>
            </a:r>
            <a:r>
              <a:rPr lang="en-US" sz="2200" err="1">
                <a:latin typeface="Times New Roman"/>
                <a:cs typeface="Times New Roman"/>
              </a:rPr>
              <a:t>запитів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 err="1">
                <a:latin typeface="Times New Roman"/>
                <a:cs typeface="Times New Roman"/>
              </a:rPr>
              <a:t>Відображення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графіка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обробки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атак</a:t>
            </a:r>
            <a:r>
              <a:rPr lang="en-US" sz="2200" dirty="0">
                <a:latin typeface="Times New Roman"/>
                <a:cs typeface="Times New Roman"/>
              </a:rPr>
              <a:t> </a:t>
            </a:r>
          </a:p>
          <a:p>
            <a:r>
              <a:rPr lang="en-US" sz="2200" err="1">
                <a:latin typeface="Times New Roman"/>
                <a:cs typeface="Times New Roman"/>
              </a:rPr>
              <a:t>Можливість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перенавчання</a:t>
            </a:r>
            <a:r>
              <a:rPr lang="en-US" sz="2200" dirty="0">
                <a:latin typeface="Times New Roman"/>
                <a:cs typeface="Times New Roman"/>
              </a:rPr>
              <a:t> ML-</a:t>
            </a:r>
            <a:r>
              <a:rPr lang="en-US" sz="2200" err="1">
                <a:latin typeface="Times New Roman"/>
                <a:cs typeface="Times New Roman"/>
              </a:rPr>
              <a:t>моделі</a:t>
            </a:r>
            <a:endParaRPr lang="en-US" sz="2200">
              <a:latin typeface="Times New Roman"/>
              <a:cs typeface="Times New Roman"/>
            </a:endParaRPr>
          </a:p>
          <a:p>
            <a:endParaRPr lang="en-US" sz="2200" dirty="0">
              <a:latin typeface="Times New Roman"/>
              <a:cs typeface="Times New Roman"/>
            </a:endParaRPr>
          </a:p>
        </p:txBody>
      </p:sp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12538A-6117-E103-CB6A-753809B4E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435" y="3822595"/>
            <a:ext cx="4865465" cy="194155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График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DCDE19-EBFD-1418-9DCC-FDBB6FA73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63" y="3432280"/>
            <a:ext cx="5726439" cy="1956894"/>
          </a:xfrm>
          <a:prstGeom prst="rect">
            <a:avLst/>
          </a:prstGeom>
        </p:spPr>
      </p:pic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05D496-6EE6-525F-E3A6-3696C1D2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63" y="1716668"/>
            <a:ext cx="5726441" cy="153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11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73EAE-099B-EC72-ED17-8C06325A7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ru-RU" sz="3600">
                <a:solidFill>
                  <a:schemeClr val="bg1"/>
                </a:solidFill>
                <a:latin typeface="Times New Roman"/>
                <a:cs typeface="Times New Roman"/>
              </a:rPr>
              <a:t>Висновки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B42F2B-2EA5-AA69-C9D8-986B07888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7554" y="307258"/>
            <a:ext cx="7966814" cy="6349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+mn-lt"/>
                <a:cs typeface="+mn-lt"/>
              </a:rPr>
              <a:t>1.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Проаналізовано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сучасні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методи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кіберзахисту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систем </a:t>
            </a:r>
            <a:r>
              <a:rPr lang="ru-RU" sz="2000" err="1">
                <a:latin typeface="Times New Roman"/>
                <a:ea typeface="+mn-lt"/>
                <a:cs typeface="+mn-lt"/>
              </a:rPr>
              <a:t>керування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базами </a:t>
            </a:r>
            <a:r>
              <a:rPr lang="ru-RU" sz="2000" err="1">
                <a:latin typeface="Times New Roman"/>
                <a:ea typeface="+mn-lt"/>
                <a:cs typeface="+mn-lt"/>
              </a:rPr>
              <a:t>даних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err="1">
                <a:latin typeface="Times New Roman"/>
                <a:ea typeface="+mn-lt"/>
                <a:cs typeface="+mn-lt"/>
              </a:rPr>
              <a:t>Визначено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підходи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до </a:t>
            </a:r>
            <a:r>
              <a:rPr lang="ru-RU" sz="2000" err="1">
                <a:latin typeface="Times New Roman"/>
                <a:ea typeface="+mn-lt"/>
                <a:cs typeface="+mn-lt"/>
              </a:rPr>
              <a:t>виявлення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SQL-</a:t>
            </a:r>
            <a:r>
              <a:rPr lang="ru-RU" sz="2000" err="1">
                <a:latin typeface="Times New Roman"/>
                <a:ea typeface="+mn-lt"/>
                <a:cs typeface="+mn-lt"/>
              </a:rPr>
              <a:t>ін’єкцій</a:t>
            </a:r>
            <a:r>
              <a:rPr lang="ru-RU" sz="2000" dirty="0">
                <a:latin typeface="Times New Roman"/>
                <a:ea typeface="+mn-lt"/>
                <a:cs typeface="+mn-lt"/>
              </a:rPr>
              <a:t>, </a:t>
            </a:r>
            <a:r>
              <a:rPr lang="ru-RU" sz="2000" err="1">
                <a:latin typeface="Times New Roman"/>
                <a:ea typeface="+mn-lt"/>
                <a:cs typeface="+mn-lt"/>
              </a:rPr>
              <a:t>способи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моніторингу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активності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та </a:t>
            </a:r>
            <a:r>
              <a:rPr lang="ru-RU" sz="2000" err="1">
                <a:latin typeface="Times New Roman"/>
                <a:ea typeface="+mn-lt"/>
                <a:cs typeface="+mn-lt"/>
              </a:rPr>
              <a:t>інструменти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машинного </a:t>
            </a:r>
            <a:r>
              <a:rPr lang="ru-RU" sz="2000" err="1">
                <a:latin typeface="Times New Roman"/>
                <a:ea typeface="+mn-lt"/>
                <a:cs typeface="+mn-lt"/>
              </a:rPr>
              <a:t>навчання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для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підвищення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стійкості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систем.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spcBef>
                <a:spcPts val="1400"/>
              </a:spcBef>
              <a:buNone/>
            </a:pPr>
            <a:r>
              <a:rPr lang="ru-RU" sz="2000" dirty="0">
                <a:latin typeface="Times New Roman"/>
                <a:ea typeface="+mn-lt"/>
                <a:cs typeface="+mn-lt"/>
              </a:rPr>
              <a:t>2.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Спроєктовано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архітектуру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веб-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застосунку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+mn-lt"/>
                <a:cs typeface="+mn-lt"/>
              </a:rPr>
              <a:t>Сформовано </a:t>
            </a:r>
            <a:r>
              <a:rPr lang="ru-RU" sz="2000" err="1">
                <a:latin typeface="Times New Roman"/>
                <a:ea typeface="+mn-lt"/>
                <a:cs typeface="+mn-lt"/>
              </a:rPr>
              <a:t>модульну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структуру </a:t>
            </a:r>
            <a:r>
              <a:rPr lang="ru-RU" sz="2000" err="1">
                <a:latin typeface="Times New Roman"/>
                <a:ea typeface="+mn-lt"/>
                <a:cs typeface="+mn-lt"/>
              </a:rPr>
              <a:t>системи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з </a:t>
            </a:r>
            <a:r>
              <a:rPr lang="ru-RU" sz="2000" err="1">
                <a:latin typeface="Times New Roman"/>
                <a:ea typeface="+mn-lt"/>
                <a:cs typeface="+mn-lt"/>
              </a:rPr>
              <a:t>окремими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компонентами: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перевірка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SQL-</a:t>
            </a:r>
            <a:r>
              <a:rPr lang="ru-RU" sz="2000" err="1">
                <a:latin typeface="Times New Roman"/>
                <a:ea typeface="+mn-lt"/>
                <a:cs typeface="+mn-lt"/>
              </a:rPr>
              <a:t>запитів</a:t>
            </a:r>
            <a:r>
              <a:rPr lang="ru-RU" sz="2000" dirty="0">
                <a:latin typeface="Times New Roman"/>
                <a:ea typeface="+mn-lt"/>
                <a:cs typeface="+mn-lt"/>
              </a:rPr>
              <a:t>, </a:t>
            </a:r>
            <a:r>
              <a:rPr lang="ru-RU" sz="2000" err="1">
                <a:latin typeface="Times New Roman"/>
                <a:ea typeface="+mn-lt"/>
                <a:cs typeface="+mn-lt"/>
              </a:rPr>
              <a:t>симуляція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атак, </a:t>
            </a:r>
            <a:r>
              <a:rPr lang="ru-RU" sz="2000" err="1">
                <a:latin typeface="Times New Roman"/>
                <a:ea typeface="+mn-lt"/>
                <a:cs typeface="+mn-lt"/>
              </a:rPr>
              <a:t>аналітика</a:t>
            </a:r>
            <a:r>
              <a:rPr lang="ru-RU" sz="2000" dirty="0">
                <a:latin typeface="Times New Roman"/>
                <a:ea typeface="+mn-lt"/>
                <a:cs typeface="+mn-lt"/>
              </a:rPr>
              <a:t>, робота з ML-</a:t>
            </a:r>
            <a:r>
              <a:rPr lang="ru-RU" sz="2000" err="1">
                <a:latin typeface="Times New Roman"/>
                <a:ea typeface="+mn-lt"/>
                <a:cs typeface="+mn-lt"/>
              </a:rPr>
              <a:t>моделлю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та </a:t>
            </a:r>
            <a:r>
              <a:rPr lang="ru-RU" sz="2000" err="1">
                <a:latin typeface="Times New Roman"/>
                <a:ea typeface="+mn-lt"/>
                <a:cs typeface="+mn-lt"/>
              </a:rPr>
              <a:t>зовнішніми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БД.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spcBef>
                <a:spcPts val="1400"/>
              </a:spcBef>
              <a:buNone/>
            </a:pPr>
            <a:r>
              <a:rPr lang="ru-RU" sz="2000" dirty="0">
                <a:latin typeface="Times New Roman"/>
                <a:ea typeface="+mn-lt"/>
                <a:cs typeface="+mn-lt"/>
              </a:rPr>
              <a:t>3.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Реалізовано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модуль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перевірки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SQL-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запитів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err="1">
                <a:latin typeface="Times New Roman"/>
                <a:ea typeface="+mn-lt"/>
                <a:cs typeface="+mn-lt"/>
              </a:rPr>
              <a:t>Розроблено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механізм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подвійної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перевірки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— на </a:t>
            </a:r>
            <a:r>
              <a:rPr lang="ru-RU" sz="2000" err="1">
                <a:latin typeface="Times New Roman"/>
                <a:ea typeface="+mn-lt"/>
                <a:cs typeface="+mn-lt"/>
              </a:rPr>
              <a:t>основі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правил SQL-парсера та ML-</a:t>
            </a:r>
            <a:r>
              <a:rPr lang="ru-RU" sz="2000" err="1">
                <a:latin typeface="Times New Roman"/>
                <a:ea typeface="+mn-lt"/>
                <a:cs typeface="+mn-lt"/>
              </a:rPr>
              <a:t>моделі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, </a:t>
            </a:r>
            <a:r>
              <a:rPr lang="ru-RU" sz="2000" err="1">
                <a:latin typeface="Times New Roman"/>
                <a:ea typeface="+mn-lt"/>
                <a:cs typeface="+mn-lt"/>
              </a:rPr>
              <a:t>що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забезпечує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виявлення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небезпечних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запитів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spcBef>
                <a:spcPts val="1400"/>
              </a:spcBef>
              <a:buNone/>
            </a:pPr>
            <a:r>
              <a:rPr lang="ru-RU" sz="2000" dirty="0">
                <a:latin typeface="Times New Roman"/>
                <a:ea typeface="+mn-lt"/>
                <a:cs typeface="+mn-lt"/>
              </a:rPr>
              <a:t>4. Створено модуль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симуляції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атак і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моніторингу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в реальному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часі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err="1">
                <a:latin typeface="Times New Roman"/>
                <a:ea typeface="+mn-lt"/>
                <a:cs typeface="+mn-lt"/>
              </a:rPr>
              <a:t>Забезпечено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відтворення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потоків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запитів</a:t>
            </a:r>
            <a:r>
              <a:rPr lang="ru-RU" sz="2000" dirty="0">
                <a:latin typeface="Times New Roman"/>
                <a:ea typeface="+mn-lt"/>
                <a:cs typeface="+mn-lt"/>
              </a:rPr>
              <a:t>, </a:t>
            </a:r>
            <a:r>
              <a:rPr lang="ru-RU" sz="2000" err="1">
                <a:latin typeface="Times New Roman"/>
                <a:ea typeface="+mn-lt"/>
                <a:cs typeface="+mn-lt"/>
              </a:rPr>
              <a:t>збір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статистики та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побудову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графіків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Allowed</a:t>
            </a:r>
            <a:r>
              <a:rPr lang="ru-RU" sz="2000" dirty="0">
                <a:latin typeface="Times New Roman"/>
                <a:ea typeface="+mn-lt"/>
                <a:cs typeface="+mn-lt"/>
              </a:rPr>
              <a:t>/</a:t>
            </a:r>
            <a:r>
              <a:rPr lang="ru-RU" sz="2000" err="1">
                <a:latin typeface="Times New Roman"/>
                <a:ea typeface="+mn-lt"/>
                <a:cs typeface="+mn-lt"/>
              </a:rPr>
              <a:t>Blocked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у реальному </a:t>
            </a:r>
            <a:r>
              <a:rPr lang="ru-RU" sz="2000" err="1">
                <a:latin typeface="Times New Roman"/>
                <a:ea typeface="+mn-lt"/>
                <a:cs typeface="+mn-lt"/>
              </a:rPr>
              <a:t>часі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dirty="0">
                <a:latin typeface="Times New Roman"/>
                <a:ea typeface="+mn-lt"/>
                <a:cs typeface="+mn-lt"/>
              </a:rPr>
              <a:t>5. Проведено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оцінку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ефективності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dirty="0" err="1">
                <a:latin typeface="Times New Roman"/>
                <a:ea typeface="+mn-lt"/>
                <a:cs typeface="+mn-lt"/>
              </a:rPr>
              <a:t>системи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err="1">
                <a:latin typeface="Times New Roman"/>
                <a:ea typeface="+mn-lt"/>
                <a:cs typeface="+mn-lt"/>
              </a:rPr>
              <a:t>Отримано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високі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показники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якості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моделі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(ROC AUC, </a:t>
            </a:r>
            <a:r>
              <a:rPr lang="ru-RU" sz="2000" err="1">
                <a:latin typeface="Times New Roman"/>
                <a:ea typeface="+mn-lt"/>
                <a:cs typeface="+mn-lt"/>
              </a:rPr>
              <a:t>precision</a:t>
            </a:r>
            <a:r>
              <a:rPr lang="ru-RU" sz="2000" dirty="0">
                <a:latin typeface="Times New Roman"/>
                <a:ea typeface="+mn-lt"/>
                <a:cs typeface="+mn-lt"/>
              </a:rPr>
              <a:t>, </a:t>
            </a:r>
            <a:r>
              <a:rPr lang="ru-RU" sz="2000" err="1">
                <a:latin typeface="Times New Roman"/>
                <a:ea typeface="+mn-lt"/>
                <a:cs typeface="+mn-lt"/>
              </a:rPr>
              <a:t>recall</a:t>
            </a:r>
            <a:r>
              <a:rPr lang="ru-RU" sz="2000" dirty="0">
                <a:latin typeface="Times New Roman"/>
                <a:ea typeface="+mn-lt"/>
                <a:cs typeface="+mn-lt"/>
              </a:rPr>
              <a:t>),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перевірено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стабільність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роботи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та </a:t>
            </a:r>
            <a:r>
              <a:rPr lang="ru-RU" sz="2000" err="1">
                <a:latin typeface="Times New Roman"/>
                <a:ea typeface="+mn-lt"/>
                <a:cs typeface="+mn-lt"/>
              </a:rPr>
              <a:t>підтверджено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функціональну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стійкість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розробленого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</a:t>
            </a:r>
            <a:r>
              <a:rPr lang="ru-RU" sz="2000" err="1">
                <a:latin typeface="Times New Roman"/>
                <a:ea typeface="+mn-lt"/>
                <a:cs typeface="+mn-lt"/>
              </a:rPr>
              <a:t>застосунку</a:t>
            </a:r>
            <a:r>
              <a:rPr lang="ru-RU" sz="2000" dirty="0">
                <a:latin typeface="Times New Roman"/>
                <a:ea typeface="+mn-lt"/>
                <a:cs typeface="+mn-lt"/>
              </a:rPr>
              <a:t>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7312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МІНІСТЕРСТВО ОСВІТИ І НАУКИ УКРАЇНИ  НАЦІОНАЛЬНИЙ ТЕХНІЧНИЙ УНІВЕРСИТЕТ УКРАЇНИ  «КИЇВСЬКИЙ ПОЛІТЕХНІЧНИЙ ІНСТИТУТ імені ІГОРЯ  СІКОРСЬКОГО»   Навчально-науковий інститут атомної та теплової енергетики  Кафедра інженерії програмного забезпечення в енергетиці  Методика забезпечення функціональної стійкості кіберзахисту систем керування базами данних</vt:lpstr>
      <vt:lpstr>Постановка задач</vt:lpstr>
      <vt:lpstr>Опис предметної області</vt:lpstr>
      <vt:lpstr>Архітектура системи</vt:lpstr>
      <vt:lpstr>Концептуальна модель ситеми</vt:lpstr>
      <vt:lpstr>Діаграма прецедентів</vt:lpstr>
      <vt:lpstr>Uml діаграма</vt:lpstr>
      <vt:lpstr>Засоби розробки</vt:lpstr>
      <vt:lpstr>Інтерфейс застосунку</vt:lpstr>
      <vt:lpstr>Інтерфейс застосунку</vt:lpstr>
      <vt:lpstr>Інтерфейс застосунку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601</cp:revision>
  <dcterms:created xsi:type="dcterms:W3CDTF">2025-11-21T18:05:26Z</dcterms:created>
  <dcterms:modified xsi:type="dcterms:W3CDTF">2025-12-13T13:07:20Z</dcterms:modified>
</cp:coreProperties>
</file>